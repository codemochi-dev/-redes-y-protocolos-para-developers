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Fredoka" panose="020B0604020202020204" charset="0"/>
      <p:regular r:id="rId13"/>
    </p:embeddedFont>
    <p:embeddedFont>
      <p:font typeface="Quicksand" panose="020B0604020202020204" charset="0"/>
      <p:regular r:id="rId14"/>
    </p:embeddedFont>
    <p:embeddedFont>
      <p:font typeface="Quicksand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3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2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0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05478"/>
            <a:chOff x="0" y="0"/>
            <a:chExt cx="4274726" cy="2121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2142"/>
            </a:xfrm>
            <a:custGeom>
              <a:avLst/>
              <a:gdLst/>
              <a:ahLst/>
              <a:cxnLst/>
              <a:rect l="l" t="t" r="r" b="b"/>
              <a:pathLst>
                <a:path w="4274726" h="212142">
                  <a:moveTo>
                    <a:pt x="0" y="0"/>
                  </a:moveTo>
                  <a:lnTo>
                    <a:pt x="4274726" y="0"/>
                  </a:lnTo>
                  <a:lnTo>
                    <a:pt x="4274726" y="212142"/>
                  </a:lnTo>
                  <a:lnTo>
                    <a:pt x="0" y="2121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50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081153"/>
            <a:ext cx="15233604" cy="313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REDES Y PROTOCOLOS.</a:t>
            </a:r>
          </a:p>
        </p:txBody>
      </p:sp>
      <p:sp>
        <p:nvSpPr>
          <p:cNvPr id="6" name="Freeform 6"/>
          <p:cNvSpPr/>
          <p:nvPr/>
        </p:nvSpPr>
        <p:spPr>
          <a:xfrm rot="-2700000">
            <a:off x="10908772" y="3978227"/>
            <a:ext cx="10707063" cy="8458580"/>
          </a:xfrm>
          <a:custGeom>
            <a:avLst/>
            <a:gdLst/>
            <a:ahLst/>
            <a:cxnLst/>
            <a:rect l="l" t="t" r="r" b="b"/>
            <a:pathLst>
              <a:path w="10707063" h="8458580">
                <a:moveTo>
                  <a:pt x="0" y="0"/>
                </a:moveTo>
                <a:lnTo>
                  <a:pt x="10707063" y="0"/>
                </a:lnTo>
                <a:lnTo>
                  <a:pt x="10707063" y="8458580"/>
                </a:lnTo>
                <a:lnTo>
                  <a:pt x="0" y="8458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92864" y="1137116"/>
            <a:ext cx="5524500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Generation Chile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0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402790"/>
            <a:ext cx="17762855" cy="22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TCP VS UDP (EL DILEMA DE LA TRANSMISIÓN)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14350" y="2621480"/>
            <a:ext cx="17259300" cy="3033531"/>
            <a:chOff x="0" y="0"/>
            <a:chExt cx="4545659" cy="7989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45659" cy="798955"/>
            </a:xfrm>
            <a:custGeom>
              <a:avLst/>
              <a:gdLst/>
              <a:ahLst/>
              <a:cxnLst/>
              <a:rect l="l" t="t" r="r" b="b"/>
              <a:pathLst>
                <a:path w="4545659" h="798955">
                  <a:moveTo>
                    <a:pt x="0" y="0"/>
                  </a:moveTo>
                  <a:lnTo>
                    <a:pt x="4545659" y="0"/>
                  </a:lnTo>
                  <a:lnTo>
                    <a:pt x="4545659" y="798955"/>
                  </a:lnTo>
                  <a:lnTo>
                    <a:pt x="0" y="7989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545659" cy="837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2849" y="2715782"/>
            <a:ext cx="15937157" cy="308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ctr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TCP (Transmission Control Protocol):</a:t>
            </a:r>
          </a:p>
          <a:p>
            <a:pPr marL="1381764" lvl="2" indent="-460588" algn="ctr">
              <a:lnSpc>
                <a:spcPts val="480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Definición: Asegura que los datos lleguen completos y en orden (como una carta certificada).</a:t>
            </a:r>
          </a:p>
          <a:p>
            <a:pPr marL="1381764" lvl="2" indent="-460588" algn="ctr">
              <a:lnSpc>
                <a:spcPts val="4800"/>
              </a:lnSpc>
              <a:spcBef>
                <a:spcPct val="0"/>
              </a:spcBef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Uso: Navegación web, emails, APIs REST.</a:t>
            </a:r>
          </a:p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endParaRPr lang="en-US" sz="320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514350" y="6406144"/>
            <a:ext cx="17248505" cy="3321920"/>
            <a:chOff x="0" y="0"/>
            <a:chExt cx="4542816" cy="8749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2816" cy="874909"/>
            </a:xfrm>
            <a:custGeom>
              <a:avLst/>
              <a:gdLst/>
              <a:ahLst/>
              <a:cxnLst/>
              <a:rect l="l" t="t" r="r" b="b"/>
              <a:pathLst>
                <a:path w="4542816" h="874909">
                  <a:moveTo>
                    <a:pt x="0" y="0"/>
                  </a:moveTo>
                  <a:lnTo>
                    <a:pt x="4542816" y="0"/>
                  </a:lnTo>
                  <a:lnTo>
                    <a:pt x="4542816" y="874909"/>
                  </a:lnTo>
                  <a:lnTo>
                    <a:pt x="0" y="8749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542816" cy="913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51778" y="6583783"/>
            <a:ext cx="17259300" cy="267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7031" lvl="1" indent="-383515" algn="ctr">
              <a:lnSpc>
                <a:spcPts val="5329"/>
              </a:lnSpc>
              <a:buFont typeface="Arial"/>
              <a:buChar char="•"/>
            </a:pPr>
            <a:r>
              <a:rPr lang="en-US" sz="3552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UDP (User Datagram Protocol):</a:t>
            </a:r>
          </a:p>
          <a:p>
            <a:pPr algn="ctr">
              <a:lnSpc>
                <a:spcPts val="5329"/>
              </a:lnSpc>
            </a:pPr>
            <a:r>
              <a:rPr lang="en-US" sz="3552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Definición: Envía datos sin verificar; es más rápido pero sin garantías (como transmisiones de radio).</a:t>
            </a:r>
          </a:p>
          <a:p>
            <a:pPr marL="0" lvl="0" indent="0" algn="ctr">
              <a:lnSpc>
                <a:spcPts val="5329"/>
              </a:lnSpc>
              <a:spcBef>
                <a:spcPct val="0"/>
              </a:spcBef>
            </a:pPr>
            <a:r>
              <a:rPr lang="en-US" sz="3552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Uso: Streaming, videojuegos, videollamadas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0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48749" y="233292"/>
            <a:ext cx="11489535" cy="9025008"/>
            <a:chOff x="0" y="0"/>
            <a:chExt cx="3026050" cy="23769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26051" cy="2376957"/>
            </a:xfrm>
            <a:custGeom>
              <a:avLst/>
              <a:gdLst/>
              <a:ahLst/>
              <a:cxnLst/>
              <a:rect l="l" t="t" r="r" b="b"/>
              <a:pathLst>
                <a:path w="3026051" h="2376957">
                  <a:moveTo>
                    <a:pt x="0" y="0"/>
                  </a:moveTo>
                  <a:lnTo>
                    <a:pt x="3026051" y="0"/>
                  </a:lnTo>
                  <a:lnTo>
                    <a:pt x="3026051" y="2376957"/>
                  </a:lnTo>
                  <a:lnTo>
                    <a:pt x="0" y="23769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26050" cy="2415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00323" y="526318"/>
            <a:ext cx="10786387" cy="5436547"/>
            <a:chOff x="0" y="0"/>
            <a:chExt cx="2840859" cy="14318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0859" cy="1431848"/>
            </a:xfrm>
            <a:custGeom>
              <a:avLst/>
              <a:gdLst/>
              <a:ahLst/>
              <a:cxnLst/>
              <a:rect l="l" t="t" r="r" b="b"/>
              <a:pathLst>
                <a:path w="2840859" h="1431848">
                  <a:moveTo>
                    <a:pt x="0" y="0"/>
                  </a:moveTo>
                  <a:lnTo>
                    <a:pt x="2840859" y="0"/>
                  </a:lnTo>
                  <a:lnTo>
                    <a:pt x="2840859" y="1431848"/>
                  </a:lnTo>
                  <a:lnTo>
                    <a:pt x="0" y="1431848"/>
                  </a:lnTo>
                  <a:close/>
                </a:path>
              </a:pathLst>
            </a:custGeom>
            <a:solidFill>
              <a:srgbClr val="1C014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40859" cy="1469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44228" y="942975"/>
            <a:ext cx="9698577" cy="3646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Un número (0 a 65535) que identifica a qué aplicación va dirigida la comunicación.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Puertos Críticos para Developers:</a:t>
            </a:r>
          </a:p>
          <a:p>
            <a:pPr marL="1209039" lvl="2" indent="-403013" algn="l">
              <a:lnSpc>
                <a:spcPts val="4199"/>
              </a:lnSpc>
              <a:buFont typeface="Arial"/>
              <a:buChar char="⚬"/>
            </a:pPr>
            <a:r>
              <a:rPr lang="en-US" sz="27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80: HTTP (tráfico sin cifrar).</a:t>
            </a:r>
          </a:p>
          <a:p>
            <a:pPr marL="1209039" lvl="2" indent="-403013" algn="l">
              <a:lnSpc>
                <a:spcPts val="4199"/>
              </a:lnSpc>
              <a:buFont typeface="Arial"/>
              <a:buChar char="⚬"/>
            </a:pPr>
            <a:r>
              <a:rPr lang="en-US" sz="27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443: HTTPS (tráfico cifrado).</a:t>
            </a:r>
          </a:p>
          <a:p>
            <a:pPr marL="1209039" lvl="2" indent="-403013" algn="l">
              <a:lnSpc>
                <a:spcPts val="4199"/>
              </a:lnSpc>
              <a:buFont typeface="Arial"/>
              <a:buChar char="⚬"/>
            </a:pPr>
            <a:r>
              <a:rPr lang="en-US" sz="27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3000: Desarrollo local (Node.js/Express).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            5432: PostgreSQL.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1098" y="1690160"/>
            <a:ext cx="5557614" cy="5050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079"/>
              </a:lnSpc>
            </a:pPr>
            <a:r>
              <a:rPr lang="en-US" sz="71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PUERTOS</a:t>
            </a:r>
          </a:p>
          <a:p>
            <a:pPr algn="r">
              <a:lnSpc>
                <a:spcPts val="10079"/>
              </a:lnSpc>
            </a:pPr>
            <a:r>
              <a:rPr lang="en-US" sz="71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(LA PUERTA DE ENTRADA)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538197" y="6228427"/>
            <a:ext cx="5148513" cy="2851129"/>
            <a:chOff x="0" y="0"/>
            <a:chExt cx="6864683" cy="38015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85083" cy="3426440"/>
            </a:xfrm>
            <a:custGeom>
              <a:avLst/>
              <a:gdLst/>
              <a:ahLst/>
              <a:cxnLst/>
              <a:rect l="l" t="t" r="r" b="b"/>
              <a:pathLst>
                <a:path w="2685083" h="3426440">
                  <a:moveTo>
                    <a:pt x="0" y="0"/>
                  </a:moveTo>
                  <a:lnTo>
                    <a:pt x="2685083" y="0"/>
                  </a:lnTo>
                  <a:lnTo>
                    <a:pt x="2685083" y="3426440"/>
                  </a:lnTo>
                  <a:lnTo>
                    <a:pt x="0" y="3426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flipH="1">
              <a:off x="4179601" y="375065"/>
              <a:ext cx="2685083" cy="3426440"/>
            </a:xfrm>
            <a:custGeom>
              <a:avLst/>
              <a:gdLst/>
              <a:ahLst/>
              <a:cxnLst/>
              <a:rect l="l" t="t" r="r" b="b"/>
              <a:pathLst>
                <a:path w="2685083" h="3426440">
                  <a:moveTo>
                    <a:pt x="2685082" y="0"/>
                  </a:moveTo>
                  <a:lnTo>
                    <a:pt x="0" y="0"/>
                  </a:lnTo>
                  <a:lnTo>
                    <a:pt x="0" y="3426440"/>
                  </a:lnTo>
                  <a:lnTo>
                    <a:pt x="2685082" y="3426440"/>
                  </a:lnTo>
                  <a:lnTo>
                    <a:pt x="2685082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314063" y="3230421"/>
              <a:ext cx="2168723" cy="351169"/>
            </a:xfrm>
            <a:custGeom>
              <a:avLst/>
              <a:gdLst/>
              <a:ahLst/>
              <a:cxnLst/>
              <a:rect l="l" t="t" r="r" b="b"/>
              <a:pathLst>
                <a:path w="2168723" h="351169">
                  <a:moveTo>
                    <a:pt x="0" y="0"/>
                  </a:moveTo>
                  <a:lnTo>
                    <a:pt x="2168722" y="0"/>
                  </a:lnTo>
                  <a:lnTo>
                    <a:pt x="2168722" y="351169"/>
                  </a:lnTo>
                  <a:lnTo>
                    <a:pt x="0" y="351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688085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2111152" y="3426440"/>
              <a:ext cx="2117587" cy="351169"/>
            </a:xfrm>
            <a:custGeom>
              <a:avLst/>
              <a:gdLst/>
              <a:ahLst/>
              <a:cxnLst/>
              <a:rect l="l" t="t" r="r" b="b"/>
              <a:pathLst>
                <a:path w="2117587" h="351169">
                  <a:moveTo>
                    <a:pt x="0" y="0"/>
                  </a:moveTo>
                  <a:lnTo>
                    <a:pt x="2117587" y="0"/>
                  </a:lnTo>
                  <a:lnTo>
                    <a:pt x="2117587" y="351169"/>
                  </a:lnTo>
                  <a:lnTo>
                    <a:pt x="0" y="351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688085" r="-2414"/>
              </a:stretch>
            </a:blipFill>
          </p:spPr>
        </p:sp>
      </p:grp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0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6029" y="745181"/>
            <a:ext cx="15478125" cy="335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HTTP (EL LENGUAJE DEL NAVEGADOR)</a:t>
            </a:r>
          </a:p>
          <a:p>
            <a:pPr algn="ctr">
              <a:lnSpc>
                <a:spcPts val="8959"/>
              </a:lnSpc>
            </a:pPr>
            <a:endParaRPr lang="en-US" sz="6399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2048236" y="2166757"/>
            <a:ext cx="12423862" cy="2976743"/>
            <a:chOff x="0" y="0"/>
            <a:chExt cx="3272128" cy="7839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72128" cy="783998"/>
            </a:xfrm>
            <a:custGeom>
              <a:avLst/>
              <a:gdLst/>
              <a:ahLst/>
              <a:cxnLst/>
              <a:rect l="l" t="t" r="r" b="b"/>
              <a:pathLst>
                <a:path w="3272128" h="783998">
                  <a:moveTo>
                    <a:pt x="0" y="0"/>
                  </a:moveTo>
                  <a:lnTo>
                    <a:pt x="3272128" y="0"/>
                  </a:lnTo>
                  <a:lnTo>
                    <a:pt x="3272128" y="783998"/>
                  </a:lnTo>
                  <a:lnTo>
                    <a:pt x="0" y="78399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272128" cy="822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187263" y="2478413"/>
            <a:ext cx="2324175" cy="3381736"/>
          </a:xfrm>
          <a:custGeom>
            <a:avLst/>
            <a:gdLst/>
            <a:ahLst/>
            <a:cxnLst/>
            <a:rect l="l" t="t" r="r" b="b"/>
            <a:pathLst>
              <a:path w="2324175" h="3381736">
                <a:moveTo>
                  <a:pt x="0" y="0"/>
                </a:moveTo>
                <a:lnTo>
                  <a:pt x="2324175" y="0"/>
                </a:lnTo>
                <a:lnTo>
                  <a:pt x="2324175" y="3381736"/>
                </a:lnTo>
                <a:lnTo>
                  <a:pt x="0" y="338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910098" y="5947514"/>
            <a:ext cx="12561999" cy="2923639"/>
            <a:chOff x="0" y="0"/>
            <a:chExt cx="3308510" cy="7700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08510" cy="770012"/>
            </a:xfrm>
            <a:custGeom>
              <a:avLst/>
              <a:gdLst/>
              <a:ahLst/>
              <a:cxnLst/>
              <a:rect l="l" t="t" r="r" b="b"/>
              <a:pathLst>
                <a:path w="3308510" h="770012">
                  <a:moveTo>
                    <a:pt x="0" y="0"/>
                  </a:moveTo>
                  <a:lnTo>
                    <a:pt x="3308510" y="0"/>
                  </a:lnTo>
                  <a:lnTo>
                    <a:pt x="3308510" y="770012"/>
                  </a:lnTo>
                  <a:lnTo>
                    <a:pt x="0" y="7700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308510" cy="808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179222" y="3064776"/>
            <a:ext cx="12292875" cy="1104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5"/>
              </a:lnSpc>
              <a:spcBef>
                <a:spcPct val="0"/>
              </a:spcBef>
            </a:pPr>
            <a:r>
              <a:rPr lang="en-US" sz="281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Protocolo que define las reglas de comunicación entre cliente y servidor.</a:t>
            </a:r>
          </a:p>
          <a:p>
            <a:pPr marL="0" lvl="0" indent="0" algn="l">
              <a:lnSpc>
                <a:spcPts val="4815"/>
              </a:lnSpc>
              <a:spcBef>
                <a:spcPct val="0"/>
              </a:spcBef>
            </a:pPr>
            <a:endParaRPr lang="en-US" sz="281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455880" y="6067261"/>
            <a:ext cx="12180467" cy="2598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Verbos Principales (Acciones):</a:t>
            </a:r>
          </a:p>
          <a:p>
            <a:pPr marL="1209039" lvl="2" indent="-403013" algn="l">
              <a:lnSpc>
                <a:spcPts val="419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GET: Obtener datos.</a:t>
            </a:r>
          </a:p>
          <a:p>
            <a:pPr marL="1209039" lvl="2" indent="-403013" algn="l">
              <a:lnSpc>
                <a:spcPts val="419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POST: Crear recursos nuevos.</a:t>
            </a:r>
          </a:p>
          <a:p>
            <a:pPr marL="1209039" lvl="2" indent="-403013" algn="l">
              <a:lnSpc>
                <a:spcPts val="419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PUT: Actualizar recursos existentes.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DELETE: Eliminar recursos.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965325" y="6023576"/>
            <a:ext cx="2323927" cy="3381375"/>
          </a:xfrm>
          <a:custGeom>
            <a:avLst/>
            <a:gdLst/>
            <a:ahLst/>
            <a:cxnLst/>
            <a:rect l="l" t="t" r="r" b="b"/>
            <a:pathLst>
              <a:path w="2323927" h="3381375">
                <a:moveTo>
                  <a:pt x="0" y="0"/>
                </a:moveTo>
                <a:lnTo>
                  <a:pt x="2323927" y="0"/>
                </a:lnTo>
                <a:lnTo>
                  <a:pt x="2323927" y="3381375"/>
                </a:lnTo>
                <a:lnTo>
                  <a:pt x="0" y="3381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0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21480"/>
            <a:ext cx="16467073" cy="6959283"/>
            <a:chOff x="0" y="0"/>
            <a:chExt cx="4337007" cy="18328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7007" cy="1832897"/>
            </a:xfrm>
            <a:custGeom>
              <a:avLst/>
              <a:gdLst/>
              <a:ahLst/>
              <a:cxnLst/>
              <a:rect l="l" t="t" r="r" b="b"/>
              <a:pathLst>
                <a:path w="4337007" h="1832897">
                  <a:moveTo>
                    <a:pt x="0" y="0"/>
                  </a:moveTo>
                  <a:lnTo>
                    <a:pt x="4337007" y="0"/>
                  </a:lnTo>
                  <a:lnTo>
                    <a:pt x="4337007" y="1832897"/>
                  </a:lnTo>
                  <a:lnTo>
                    <a:pt x="0" y="18328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7007" cy="1870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16450" y="3374207"/>
            <a:ext cx="4487419" cy="952500"/>
            <a:chOff x="0" y="0"/>
            <a:chExt cx="1181872" cy="2508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1872" cy="250864"/>
            </a:xfrm>
            <a:custGeom>
              <a:avLst/>
              <a:gdLst/>
              <a:ahLst/>
              <a:cxnLst/>
              <a:rect l="l" t="t" r="r" b="b"/>
              <a:pathLst>
                <a:path w="1181872" h="250864">
                  <a:moveTo>
                    <a:pt x="0" y="0"/>
                  </a:moveTo>
                  <a:lnTo>
                    <a:pt x="1181872" y="0"/>
                  </a:lnTo>
                  <a:lnTo>
                    <a:pt x="1181872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81872" cy="288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16450" y="3850457"/>
            <a:ext cx="4487419" cy="4762500"/>
            <a:chOff x="0" y="0"/>
            <a:chExt cx="1181872" cy="12543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81872" cy="1254321"/>
            </a:xfrm>
            <a:custGeom>
              <a:avLst/>
              <a:gdLst/>
              <a:ahLst/>
              <a:cxnLst/>
              <a:rect l="l" t="t" r="r" b="b"/>
              <a:pathLst>
                <a:path w="1181872" h="1254321">
                  <a:moveTo>
                    <a:pt x="0" y="0"/>
                  </a:moveTo>
                  <a:lnTo>
                    <a:pt x="1181872" y="0"/>
                  </a:lnTo>
                  <a:lnTo>
                    <a:pt x="1181872" y="1254321"/>
                  </a:lnTo>
                  <a:lnTo>
                    <a:pt x="0" y="125432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81872" cy="1292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090546" y="3374207"/>
            <a:ext cx="4100463" cy="952500"/>
            <a:chOff x="0" y="0"/>
            <a:chExt cx="1079957" cy="2508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9957" cy="250864"/>
            </a:xfrm>
            <a:custGeom>
              <a:avLst/>
              <a:gdLst/>
              <a:ahLst/>
              <a:cxnLst/>
              <a:rect l="l" t="t" r="r" b="b"/>
              <a:pathLst>
                <a:path w="1079957" h="250864">
                  <a:moveTo>
                    <a:pt x="0" y="0"/>
                  </a:moveTo>
                  <a:lnTo>
                    <a:pt x="1079957" y="0"/>
                  </a:lnTo>
                  <a:lnTo>
                    <a:pt x="1079957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79957" cy="288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090546" y="3850457"/>
            <a:ext cx="4100463" cy="4762500"/>
            <a:chOff x="0" y="0"/>
            <a:chExt cx="1079957" cy="125432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9957" cy="1254321"/>
            </a:xfrm>
            <a:custGeom>
              <a:avLst/>
              <a:gdLst/>
              <a:ahLst/>
              <a:cxnLst/>
              <a:rect l="l" t="t" r="r" b="b"/>
              <a:pathLst>
                <a:path w="1079957" h="1254321">
                  <a:moveTo>
                    <a:pt x="0" y="0"/>
                  </a:moveTo>
                  <a:lnTo>
                    <a:pt x="1079957" y="0"/>
                  </a:lnTo>
                  <a:lnTo>
                    <a:pt x="1079957" y="1254321"/>
                  </a:lnTo>
                  <a:lnTo>
                    <a:pt x="0" y="125432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9957" cy="1292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077686" y="3374207"/>
            <a:ext cx="4956855" cy="952500"/>
            <a:chOff x="0" y="0"/>
            <a:chExt cx="1305509" cy="2508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05509" cy="250864"/>
            </a:xfrm>
            <a:custGeom>
              <a:avLst/>
              <a:gdLst/>
              <a:ahLst/>
              <a:cxnLst/>
              <a:rect l="l" t="t" r="r" b="b"/>
              <a:pathLst>
                <a:path w="1305509" h="250864">
                  <a:moveTo>
                    <a:pt x="0" y="0"/>
                  </a:moveTo>
                  <a:lnTo>
                    <a:pt x="1305509" y="0"/>
                  </a:lnTo>
                  <a:lnTo>
                    <a:pt x="1305509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05509" cy="288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077686" y="3850457"/>
            <a:ext cx="4956855" cy="4762500"/>
            <a:chOff x="0" y="0"/>
            <a:chExt cx="1305509" cy="125432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05509" cy="1254321"/>
            </a:xfrm>
            <a:custGeom>
              <a:avLst/>
              <a:gdLst/>
              <a:ahLst/>
              <a:cxnLst/>
              <a:rect l="l" t="t" r="r" b="b"/>
              <a:pathLst>
                <a:path w="1305509" h="1254321">
                  <a:moveTo>
                    <a:pt x="0" y="0"/>
                  </a:moveTo>
                  <a:lnTo>
                    <a:pt x="1305509" y="0"/>
                  </a:lnTo>
                  <a:lnTo>
                    <a:pt x="1305509" y="1254321"/>
                  </a:lnTo>
                  <a:lnTo>
                    <a:pt x="0" y="125432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305509" cy="1292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3305046" y="4656684"/>
            <a:ext cx="1697182" cy="1905000"/>
          </a:xfrm>
          <a:custGeom>
            <a:avLst/>
            <a:gdLst/>
            <a:ahLst/>
            <a:cxnLst/>
            <a:rect l="l" t="t" r="r" b="b"/>
            <a:pathLst>
              <a:path w="1697182" h="1905000">
                <a:moveTo>
                  <a:pt x="0" y="0"/>
                </a:moveTo>
                <a:lnTo>
                  <a:pt x="1697182" y="0"/>
                </a:lnTo>
                <a:lnTo>
                  <a:pt x="1697182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172432" y="4656684"/>
            <a:ext cx="1601225" cy="1575023"/>
          </a:xfrm>
          <a:custGeom>
            <a:avLst/>
            <a:gdLst/>
            <a:ahLst/>
            <a:cxnLst/>
            <a:rect l="l" t="t" r="r" b="b"/>
            <a:pathLst>
              <a:path w="1601225" h="1575023">
                <a:moveTo>
                  <a:pt x="0" y="0"/>
                </a:moveTo>
                <a:lnTo>
                  <a:pt x="1601225" y="0"/>
                </a:lnTo>
                <a:lnTo>
                  <a:pt x="1601225" y="1575023"/>
                </a:lnTo>
                <a:lnTo>
                  <a:pt x="0" y="1575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>
            <a:off x="13668510" y="4520605"/>
            <a:ext cx="1288722" cy="1711102"/>
          </a:xfrm>
          <a:custGeom>
            <a:avLst/>
            <a:gdLst/>
            <a:ahLst/>
            <a:cxnLst/>
            <a:rect l="l" t="t" r="r" b="b"/>
            <a:pathLst>
              <a:path w="1288722" h="1711102">
                <a:moveTo>
                  <a:pt x="0" y="0"/>
                </a:moveTo>
                <a:lnTo>
                  <a:pt x="1288722" y="0"/>
                </a:lnTo>
                <a:lnTo>
                  <a:pt x="1288722" y="1711102"/>
                </a:lnTo>
                <a:lnTo>
                  <a:pt x="0" y="17111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TextBox 26"/>
          <p:cNvSpPr txBox="1"/>
          <p:nvPr/>
        </p:nvSpPr>
        <p:spPr>
          <a:xfrm>
            <a:off x="0" y="914400"/>
            <a:ext cx="18645858" cy="22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CONEXIÓN EN EL MUNDO REAL</a:t>
            </a:r>
          </a:p>
          <a:p>
            <a:pPr algn="ctr">
              <a:lnSpc>
                <a:spcPts val="8959"/>
              </a:lnSpc>
            </a:pPr>
            <a:endParaRPr lang="en-US" sz="6399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984458" y="3519939"/>
            <a:ext cx="3946620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FETCH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63336" y="3519939"/>
            <a:ext cx="3554883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Performance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60031" y="3496330"/>
            <a:ext cx="3554883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flujo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63336" y="6282060"/>
            <a:ext cx="3554883" cy="2074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ctr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Protocolo: HTTP.</a:t>
            </a:r>
          </a:p>
          <a:p>
            <a:pPr marL="604519" lvl="1" indent="-302260" algn="ctr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Puerto: 3000.</a:t>
            </a:r>
          </a:p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Host: localhost (tu propia máquina).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77686" y="6145982"/>
            <a:ext cx="4719573" cy="2074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El frontend (cliente) solicita y el backend (servidor) responde con un código de estado y datos.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84458" y="6514059"/>
            <a:ext cx="3951402" cy="1305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  <a:spcBef>
                <a:spcPct val="0"/>
              </a:spcBef>
            </a:pPr>
            <a:r>
              <a:rPr lang="en-US" sz="250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El escenario del fetch: fetch("http://localhost:3000/api").</a:t>
            </a:r>
          </a:p>
        </p:txBody>
      </p: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0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6237" y="620247"/>
            <a:ext cx="16553063" cy="7045273"/>
            <a:chOff x="0" y="0"/>
            <a:chExt cx="4359654" cy="18555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9654" cy="1855545"/>
            </a:xfrm>
            <a:custGeom>
              <a:avLst/>
              <a:gdLst/>
              <a:ahLst/>
              <a:cxnLst/>
              <a:rect l="l" t="t" r="r" b="b"/>
              <a:pathLst>
                <a:path w="4359654" h="1855545">
                  <a:moveTo>
                    <a:pt x="0" y="0"/>
                  </a:moveTo>
                  <a:lnTo>
                    <a:pt x="4359654" y="0"/>
                  </a:lnTo>
                  <a:lnTo>
                    <a:pt x="4359654" y="1855545"/>
                  </a:lnTo>
                  <a:lnTo>
                    <a:pt x="0" y="18555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59654" cy="1893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65002" y="1781427"/>
            <a:ext cx="4939719" cy="952500"/>
            <a:chOff x="0" y="0"/>
            <a:chExt cx="1300996" cy="2508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00996" cy="250864"/>
            </a:xfrm>
            <a:custGeom>
              <a:avLst/>
              <a:gdLst/>
              <a:ahLst/>
              <a:cxnLst/>
              <a:rect l="l" t="t" r="r" b="b"/>
              <a:pathLst>
                <a:path w="1300996" h="250864">
                  <a:moveTo>
                    <a:pt x="0" y="0"/>
                  </a:moveTo>
                  <a:lnTo>
                    <a:pt x="1300996" y="0"/>
                  </a:lnTo>
                  <a:lnTo>
                    <a:pt x="1300996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00996" cy="288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65002" y="2257677"/>
            <a:ext cx="4938866" cy="4762500"/>
            <a:chOff x="0" y="0"/>
            <a:chExt cx="1300771" cy="12543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0771" cy="1254321"/>
            </a:xfrm>
            <a:custGeom>
              <a:avLst/>
              <a:gdLst/>
              <a:ahLst/>
              <a:cxnLst/>
              <a:rect l="l" t="t" r="r" b="b"/>
              <a:pathLst>
                <a:path w="1300771" h="1254321">
                  <a:moveTo>
                    <a:pt x="0" y="0"/>
                  </a:moveTo>
                  <a:lnTo>
                    <a:pt x="1300771" y="0"/>
                  </a:lnTo>
                  <a:lnTo>
                    <a:pt x="1300771" y="1254321"/>
                  </a:lnTo>
                  <a:lnTo>
                    <a:pt x="0" y="125432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00771" cy="1292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574605" y="1781427"/>
            <a:ext cx="4874374" cy="952500"/>
            <a:chOff x="0" y="0"/>
            <a:chExt cx="1283786" cy="2508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3786" cy="250864"/>
            </a:xfrm>
            <a:custGeom>
              <a:avLst/>
              <a:gdLst/>
              <a:ahLst/>
              <a:cxnLst/>
              <a:rect l="l" t="t" r="r" b="b"/>
              <a:pathLst>
                <a:path w="1283786" h="250864">
                  <a:moveTo>
                    <a:pt x="0" y="0"/>
                  </a:moveTo>
                  <a:lnTo>
                    <a:pt x="1283786" y="0"/>
                  </a:lnTo>
                  <a:lnTo>
                    <a:pt x="1283786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83786" cy="288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574605" y="2257677"/>
            <a:ext cx="4874374" cy="4762500"/>
            <a:chOff x="0" y="0"/>
            <a:chExt cx="1283786" cy="125432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3786" cy="1254321"/>
            </a:xfrm>
            <a:custGeom>
              <a:avLst/>
              <a:gdLst/>
              <a:ahLst/>
              <a:cxnLst/>
              <a:rect l="l" t="t" r="r" b="b"/>
              <a:pathLst>
                <a:path w="1283786" h="1254321">
                  <a:moveTo>
                    <a:pt x="0" y="0"/>
                  </a:moveTo>
                  <a:lnTo>
                    <a:pt x="1283786" y="0"/>
                  </a:lnTo>
                  <a:lnTo>
                    <a:pt x="1283786" y="1254321"/>
                  </a:lnTo>
                  <a:lnTo>
                    <a:pt x="0" y="125432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283786" cy="1292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077686" y="1781427"/>
            <a:ext cx="4852876" cy="952500"/>
            <a:chOff x="0" y="0"/>
            <a:chExt cx="1278124" cy="2508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78124" cy="250864"/>
            </a:xfrm>
            <a:custGeom>
              <a:avLst/>
              <a:gdLst/>
              <a:ahLst/>
              <a:cxnLst/>
              <a:rect l="l" t="t" r="r" b="b"/>
              <a:pathLst>
                <a:path w="1278124" h="250864">
                  <a:moveTo>
                    <a:pt x="0" y="0"/>
                  </a:moveTo>
                  <a:lnTo>
                    <a:pt x="1278124" y="0"/>
                  </a:lnTo>
                  <a:lnTo>
                    <a:pt x="1278124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278124" cy="288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077686" y="2257677"/>
            <a:ext cx="4852876" cy="4762500"/>
            <a:chOff x="0" y="0"/>
            <a:chExt cx="1278124" cy="125432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78124" cy="1254321"/>
            </a:xfrm>
            <a:custGeom>
              <a:avLst/>
              <a:gdLst/>
              <a:ahLst/>
              <a:cxnLst/>
              <a:rect l="l" t="t" r="r" b="b"/>
              <a:pathLst>
                <a:path w="1278124" h="1254321">
                  <a:moveTo>
                    <a:pt x="0" y="0"/>
                  </a:moveTo>
                  <a:lnTo>
                    <a:pt x="1278124" y="0"/>
                  </a:lnTo>
                  <a:lnTo>
                    <a:pt x="1278124" y="1254321"/>
                  </a:lnTo>
                  <a:lnTo>
                    <a:pt x="0" y="1254321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278124" cy="1292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2869264" y="2762250"/>
            <a:ext cx="2138795" cy="2381250"/>
          </a:xfrm>
          <a:custGeom>
            <a:avLst/>
            <a:gdLst/>
            <a:ahLst/>
            <a:cxnLst/>
            <a:rect l="l" t="t" r="r" b="b"/>
            <a:pathLst>
              <a:path w="2138795" h="2381250">
                <a:moveTo>
                  <a:pt x="0" y="0"/>
                </a:moveTo>
                <a:lnTo>
                  <a:pt x="2138795" y="0"/>
                </a:lnTo>
                <a:lnTo>
                  <a:pt x="2138795" y="2381250"/>
                </a:lnTo>
                <a:lnTo>
                  <a:pt x="0" y="238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128722" y="2762250"/>
            <a:ext cx="2030557" cy="2381250"/>
          </a:xfrm>
          <a:custGeom>
            <a:avLst/>
            <a:gdLst/>
            <a:ahLst/>
            <a:cxnLst/>
            <a:rect l="l" t="t" r="r" b="b"/>
            <a:pathLst>
              <a:path w="2030557" h="2381250">
                <a:moveTo>
                  <a:pt x="0" y="0"/>
                </a:moveTo>
                <a:lnTo>
                  <a:pt x="2030556" y="0"/>
                </a:lnTo>
                <a:lnTo>
                  <a:pt x="2030556" y="2381250"/>
                </a:lnTo>
                <a:lnTo>
                  <a:pt x="0" y="238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3578066" y="2762250"/>
            <a:ext cx="2121477" cy="2381250"/>
          </a:xfrm>
          <a:custGeom>
            <a:avLst/>
            <a:gdLst/>
            <a:ahLst/>
            <a:cxnLst/>
            <a:rect l="l" t="t" r="r" b="b"/>
            <a:pathLst>
              <a:path w="2121477" h="2381250">
                <a:moveTo>
                  <a:pt x="0" y="0"/>
                </a:moveTo>
                <a:lnTo>
                  <a:pt x="2121477" y="0"/>
                </a:lnTo>
                <a:lnTo>
                  <a:pt x="2121477" y="2381250"/>
                </a:lnTo>
                <a:lnTo>
                  <a:pt x="0" y="2381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408807" y="1927159"/>
            <a:ext cx="4522271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Port already in use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54492" y="1652767"/>
            <a:ext cx="3435057" cy="1109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sz="3194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"Connection refused"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50477" y="1927159"/>
            <a:ext cx="3554883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"Timeout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5002" y="5295900"/>
            <a:ext cx="4830000" cy="1568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43"/>
              </a:lnSpc>
              <a:spcBef>
                <a:spcPct val="0"/>
              </a:spcBef>
            </a:pPr>
            <a:r>
              <a:rPr lang="en-US" sz="282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Otro proceso ya ocupa ese puerto; no puede haber dos servicios en el mismo.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81232" y="5286375"/>
            <a:ext cx="4390106" cy="155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El servidor no está corriendo o no "escucha" en ese puerto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239554" y="5286375"/>
            <a:ext cx="4519091" cy="155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La solicitud tardó demasiado; puede ser por red lenta o firewall.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2291" y="7741720"/>
            <a:ext cx="16707988" cy="22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DEBUGGING (CUANDO LAS COSAS FALLAN)</a:t>
            </a:r>
          </a:p>
        </p:txBody>
      </p: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0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2015" y="2737821"/>
            <a:ext cx="16440037" cy="7114358"/>
            <a:chOff x="0" y="0"/>
            <a:chExt cx="4329886" cy="18737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9886" cy="1873740"/>
            </a:xfrm>
            <a:custGeom>
              <a:avLst/>
              <a:gdLst/>
              <a:ahLst/>
              <a:cxnLst/>
              <a:rect l="l" t="t" r="r" b="b"/>
              <a:pathLst>
                <a:path w="4329886" h="1873740">
                  <a:moveTo>
                    <a:pt x="0" y="0"/>
                  </a:moveTo>
                  <a:lnTo>
                    <a:pt x="4329886" y="0"/>
                  </a:lnTo>
                  <a:lnTo>
                    <a:pt x="4329886" y="1873740"/>
                  </a:lnTo>
                  <a:lnTo>
                    <a:pt x="0" y="18737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29886" cy="1911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45406" y="4347769"/>
            <a:ext cx="3911719" cy="4284562"/>
            <a:chOff x="0" y="0"/>
            <a:chExt cx="5215626" cy="5712749"/>
          </a:xfrm>
        </p:grpSpPr>
        <p:sp>
          <p:nvSpPr>
            <p:cNvPr id="6" name="Freeform 6"/>
            <p:cNvSpPr/>
            <p:nvPr/>
          </p:nvSpPr>
          <p:spPr>
            <a:xfrm>
              <a:off x="0" y="3669203"/>
              <a:ext cx="3175000" cy="2043545"/>
            </a:xfrm>
            <a:custGeom>
              <a:avLst/>
              <a:gdLst/>
              <a:ahLst/>
              <a:cxnLst/>
              <a:rect l="l" t="t" r="r" b="b"/>
              <a:pathLst>
                <a:path w="3175000" h="2043545">
                  <a:moveTo>
                    <a:pt x="0" y="0"/>
                  </a:moveTo>
                  <a:lnTo>
                    <a:pt x="3175000" y="0"/>
                  </a:lnTo>
                  <a:lnTo>
                    <a:pt x="3175000" y="2043546"/>
                  </a:lnTo>
                  <a:lnTo>
                    <a:pt x="0" y="2043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004829" y="0"/>
              <a:ext cx="3210797" cy="4097305"/>
            </a:xfrm>
            <a:custGeom>
              <a:avLst/>
              <a:gdLst/>
              <a:ahLst/>
              <a:cxnLst/>
              <a:rect l="l" t="t" r="r" b="b"/>
              <a:pathLst>
                <a:path w="3210797" h="4097305">
                  <a:moveTo>
                    <a:pt x="0" y="0"/>
                  </a:moveTo>
                  <a:lnTo>
                    <a:pt x="3210797" y="0"/>
                  </a:lnTo>
                  <a:lnTo>
                    <a:pt x="3210797" y="4097305"/>
                  </a:lnTo>
                  <a:lnTo>
                    <a:pt x="0" y="4097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 rot="1829188">
              <a:off x="1806902" y="3623332"/>
              <a:ext cx="1024316" cy="664874"/>
            </a:xfrm>
            <a:custGeom>
              <a:avLst/>
              <a:gdLst/>
              <a:ahLst/>
              <a:cxnLst/>
              <a:rect l="l" t="t" r="r" b="b"/>
              <a:pathLst>
                <a:path w="1024316" h="664874">
                  <a:moveTo>
                    <a:pt x="0" y="0"/>
                  </a:moveTo>
                  <a:lnTo>
                    <a:pt x="1024316" y="0"/>
                  </a:lnTo>
                  <a:lnTo>
                    <a:pt x="1024316" y="664874"/>
                  </a:lnTo>
                  <a:lnTo>
                    <a:pt x="0" y="664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862015" y="904875"/>
            <a:ext cx="14702287" cy="2573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13"/>
              </a:lnSpc>
            </a:pPr>
            <a:r>
              <a:rPr lang="en-US" sz="6295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CONCEPTOS FINALES (BONUS)</a:t>
            </a:r>
          </a:p>
          <a:p>
            <a:pPr algn="r">
              <a:lnSpc>
                <a:spcPts val="12032"/>
              </a:lnSpc>
            </a:pPr>
            <a:endParaRPr lang="en-US" sz="6295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81575" y="3970612"/>
            <a:ext cx="10683580" cy="4553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6960" lvl="1" indent="-378480" algn="l">
              <a:lnSpc>
                <a:spcPts val="5259"/>
              </a:lnSpc>
              <a:buFont typeface="Arial"/>
              <a:buChar char="•"/>
            </a:pPr>
            <a:r>
              <a:rPr lang="en-US" sz="350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HTTPS: HTTP con seguridad (SSL/TLS). Siempre usar en producción (Puerto 443).</a:t>
            </a:r>
          </a:p>
          <a:p>
            <a:pPr marL="756960" lvl="1" indent="-378480" algn="l">
              <a:lnSpc>
                <a:spcPts val="5259"/>
              </a:lnSpc>
              <a:buFont typeface="Arial"/>
              <a:buChar char="•"/>
            </a:pPr>
            <a:r>
              <a:rPr lang="en-US" sz="350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REST: Estilo de arquitectura para diseñar APIs usando correctamente los verbos HTTP.</a:t>
            </a:r>
          </a:p>
          <a:p>
            <a:pPr marL="756960" lvl="1" indent="-378480" algn="l">
              <a:lnSpc>
                <a:spcPts val="5259"/>
              </a:lnSpc>
              <a:buFont typeface="Arial"/>
              <a:buChar char="•"/>
            </a:pPr>
            <a:r>
              <a:rPr lang="en-US" sz="350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Endpoint: URL específica que funciona como "punto de entrada" a un recurso.</a:t>
            </a:r>
          </a:p>
          <a:p>
            <a:pPr algn="l">
              <a:lnSpc>
                <a:spcPts val="5259"/>
              </a:lnSpc>
            </a:pPr>
            <a:endParaRPr lang="en-US" sz="3506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363</Words>
  <Application>Microsoft Office PowerPoint</Application>
  <PresentationFormat>Personalizado</PresentationFormat>
  <Paragraphs>44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Quicksand</vt:lpstr>
      <vt:lpstr>Calibri</vt:lpstr>
      <vt:lpstr>Arial</vt:lpstr>
      <vt:lpstr>Fredoka</vt:lpstr>
      <vt:lpstr>Quicksand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Modern Gradient Programmer Presentation</dc:title>
  <dc:creator>Valentina Paz</dc:creator>
  <cp:lastModifiedBy>Valentina Paz</cp:lastModifiedBy>
  <cp:revision>2</cp:revision>
  <dcterms:created xsi:type="dcterms:W3CDTF">2006-08-16T00:00:00Z</dcterms:created>
  <dcterms:modified xsi:type="dcterms:W3CDTF">2026-03-26T16:45:57Z</dcterms:modified>
  <dc:identifier>DAHFD7Vnw7U</dc:identifier>
</cp:coreProperties>
</file>